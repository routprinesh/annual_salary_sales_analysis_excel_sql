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3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7" d="100"/>
          <a:sy n="77" d="100"/>
        </p:scale>
        <p:origin x="91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AA904-7BCB-E466-B898-97A9367CD4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8A171E-24BA-F743-45E8-C1F85D2B4B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1779E-8C7F-1128-61EF-02918D03C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9D76B-585B-4297-BE19-DE08E7E2A51B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0A220-A09E-0873-B51A-C36512A47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72E55-D3DC-40D5-9217-0713E1145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0C808-0710-42C9-8FF6-B7DEFA29AF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3538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FE9E5-211B-4668-D572-240841E88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54FB9-5CC5-CD09-0026-93122BD23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FE8D9-9CC9-5947-1D48-153E2E178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9D76B-585B-4297-BE19-DE08E7E2A51B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383FD-900B-9F94-9C71-29477C64E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3FD22-E664-7A4C-EC75-426E294E3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0C808-0710-42C9-8FF6-B7DEFA29AF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564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A85B8-5447-133A-B625-8B3A806DC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B4DA4-D454-5053-A579-4090FCF9D1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4F598-E5A5-40BD-0DB3-F5505E010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9D76B-585B-4297-BE19-DE08E7E2A51B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606AB-C9F0-4705-03C0-71C6594C4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4D46E-2ECE-68F8-52AC-A05ADC891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0C808-0710-42C9-8FF6-B7DEFA29AF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834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FB885-5CE9-C0F9-F644-E3E314E7F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05AD5-CF2D-BAED-AF2B-70D67D8F7C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6AEBCE-17C3-0D69-41C3-7766B411A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E1351F-DAA0-570D-05A4-9573E5944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9D76B-585B-4297-BE19-DE08E7E2A51B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B2865F-26E2-A52E-91AE-96B56B1CD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BF388E-36D2-7EDF-451F-A7AB8A05F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0C808-0710-42C9-8FF6-B7DEFA29AF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7568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CA0D8-786B-EC8F-FD83-57D5FA9FB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AED9E5-CF02-43E8-BADA-2881F2A3F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933219-99A3-98C9-1E85-3E32D4C3E0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06232E-909B-B3B3-6F70-F79C0D4D2D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C85861-D708-9E74-F999-D17058274B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32F056-6803-AF5C-5B16-0D4F2AD19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9D76B-585B-4297-BE19-DE08E7E2A51B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106F09-72A9-6AF2-20BF-E5D897084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F55650-3FE7-106F-556C-81907F76C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0C808-0710-42C9-8FF6-B7DEFA29AF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1176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9D932-0461-45EF-7E28-D911E37A2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8B3478-BB5D-A9AE-C654-89206A144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9D76B-585B-4297-BE19-DE08E7E2A51B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FB89B3-201C-80CC-2BB4-E45169D12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9FE4FB-8E4E-5FF9-7A20-8906DFFC8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0C808-0710-42C9-8FF6-B7DEFA29AF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6440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2DC96D-CB52-5431-EBD7-66B3BD052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9D76B-585B-4297-BE19-DE08E7E2A51B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60FA29-0728-8519-1F01-9B19989B9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9A83CD-E920-8267-C69A-7A841DD2E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0C808-0710-42C9-8FF6-B7DEFA29AF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983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29CCB-2092-A001-2A88-8D8160C0B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8E6A1-7143-A940-C6BA-381218515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7D6512-D296-5336-77E9-62C22A6BA6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CD5F4B-F956-D35C-FB30-E655E480D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9D76B-585B-4297-BE19-DE08E7E2A51B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E6C927-BCCA-9989-8F95-8710DFB76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0A54F1-1077-35D7-1358-92B9AF7C5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0C808-0710-42C9-8FF6-B7DEFA29AF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810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544A6-F044-DD5C-EEB8-FBBECA17A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ACAB8C-4F60-7395-F5BB-70550BC601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75456A-065C-5DB0-6EFD-18DA95EBA2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7B2837-E87D-E236-A72F-D1E32FDC8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9D76B-585B-4297-BE19-DE08E7E2A51B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9CFA80-9614-63D9-081A-9D20AAC2C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A3CBE9-71E2-BE83-B804-5E7B4D54E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0C808-0710-42C9-8FF6-B7DEFA29AF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6134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8802D-F5FD-78A6-7769-E606F54CB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7DBB7D-B136-4A79-4757-BDF21EBFE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D5BBB-BDDC-6836-C234-FBECE1AE0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9D76B-585B-4297-BE19-DE08E7E2A51B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FCB82-E9AA-46EA-2BC3-112511630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A4A33-1E52-D293-A93E-11B43F42F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0C808-0710-42C9-8FF6-B7DEFA29AF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4772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95F4DB-8E08-6FFE-2AD5-3EC0613A29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976E4E-CCCA-0F51-3DBF-BD83EA83F9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E1396-7E49-EDB0-9FB4-72DB0A9C5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9D76B-585B-4297-BE19-DE08E7E2A51B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BB20E-6A80-2E93-F373-08207A8B8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79335A-AFB6-117A-EB3B-2816383F7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0C808-0710-42C9-8FF6-B7DEFA29AF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1755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8E0B78-00F1-888E-41D0-BE12E1AB7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020D3F-B049-5B15-FFC7-8AD7741FA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2660E-8C7C-68B7-C49F-A9F9C99D84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C9D76B-585B-4297-BE19-DE08E7E2A51B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36DE7-6ABA-CCF2-7BD1-DB0FDE0C70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3AD76-D827-9BDE-3C04-1F8EA0E254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0C808-0710-42C9-8FF6-B7DEFA29AF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0889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imslegal.co.uk/articles/how-to-ask-trademark-survey-questions" TargetMode="External"/><Relationship Id="rId3" Type="http://schemas.openxmlformats.org/officeDocument/2006/relationships/hyperlink" Target="https://www.comicbookdaily.com/championing_comics/retailer-q/retailer-q-7-periodicals-and-collected-editions/" TargetMode="External"/><Relationship Id="rId7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malayalam.oneindia.com/news/india/salary-hike-know-possible-basic-salary-hike-of-central-govt-employees-in-8th-pay-commission-559234.html" TargetMode="External"/><Relationship Id="rId5" Type="http://schemas.openxmlformats.org/officeDocument/2006/relationships/image" Target="../media/image2.jpg"/><Relationship Id="rId4" Type="http://schemas.openxmlformats.org/officeDocument/2006/relationships/hyperlink" Target="https://creativecommons.org/licenses/by-nc-nd/3.0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849E9-FFF7-4C3F-17F0-7EE6F8835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347019" y="422787"/>
            <a:ext cx="14119122" cy="117741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40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ANNUAL SALARY REVIEW MILESTONE PROJECT</a:t>
            </a:r>
            <a:endParaRPr lang="en-IN" sz="4000" dirty="0">
              <a:highlight>
                <a:srgbClr val="00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8A0510-2B65-3A8E-2F9B-8D70FEB2F8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18554" y="4936571"/>
            <a:ext cx="4935793" cy="1177413"/>
          </a:xfrm>
        </p:spPr>
        <p:txBody>
          <a:bodyPr/>
          <a:lstStyle/>
          <a:p>
            <a:r>
              <a:rPr lang="en-US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PRINESH ROUT</a:t>
            </a:r>
          </a:p>
          <a:p>
            <a:r>
              <a:rPr lang="en-US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DA &amp; DS AUGUST B BATCH</a:t>
            </a:r>
            <a:endParaRPr lang="en-IN" dirty="0">
              <a:highlight>
                <a:srgbClr val="00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7FCAF9-98E6-D52A-4F29-033AAA972A1E}"/>
              </a:ext>
            </a:extLst>
          </p:cNvPr>
          <p:cNvSpPr txBox="1"/>
          <p:nvPr/>
        </p:nvSpPr>
        <p:spPr>
          <a:xfrm>
            <a:off x="560439" y="5063612"/>
            <a:ext cx="25465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GUIDED BY :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>
                <a:highlight>
                  <a:srgbClr val="00FF00"/>
                </a:highlight>
              </a:rPr>
              <a:t>RAMYA M</a:t>
            </a:r>
            <a:endParaRPr lang="en-IN" dirty="0">
              <a:highlight>
                <a:srgbClr val="00FF00"/>
              </a:highligh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A87143-1100-CE3D-E67D-0389683770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286864" y="2018460"/>
            <a:ext cx="3667434" cy="24998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072778-E9AE-8A6E-CFF2-1FDD830C9780}"/>
              </a:ext>
            </a:extLst>
          </p:cNvPr>
          <p:cNvSpPr txBox="1"/>
          <p:nvPr/>
        </p:nvSpPr>
        <p:spPr>
          <a:xfrm flipV="1">
            <a:off x="6351638" y="3529781"/>
            <a:ext cx="76691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>
                <a:hlinkClick r:id="rId3" tooltip="https://www.comicbookdaily.com/championing_comics/retailer-q/retailer-q-7-periodicals-and-collected-editions/"/>
              </a:rPr>
              <a:t>This Photo</a:t>
            </a:r>
            <a:r>
              <a:rPr lang="en-IN" sz="900" dirty="0"/>
              <a:t> by Unknown Author is licensed under </a:t>
            </a:r>
            <a:r>
              <a:rPr lang="en-IN" sz="900" dirty="0">
                <a:hlinkClick r:id="rId4" tooltip="https://creativecommons.org/licenses/by-nc-nd/3.0/"/>
              </a:rPr>
              <a:t>CC BY-NC-ND</a:t>
            </a:r>
            <a:endParaRPr lang="en-IN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81D82A7-6B89-8CC3-5A6C-18F5787313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432618" y="2018460"/>
            <a:ext cx="3411795" cy="24998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75AF331-58D6-9B88-F04A-7CA03CE4EE8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8140920" y="2021307"/>
            <a:ext cx="3834769" cy="249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012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6BF7B-2B3E-2ED4-380B-4F2B9D396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896" y="365125"/>
            <a:ext cx="10846904" cy="777875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28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760F5-9580-68AA-57DA-C3E572326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2149"/>
            <a:ext cx="10515600" cy="2474842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of this project is to systematically assess and analyze employee compensation data across the organization for the current review period. It aims to ensure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equitable pay practices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identify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salary trends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flag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disparities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provide actionable insights to support HR and leadership in decision-making for salary adjustments, promotions, and budget planning.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BBF512-AC33-7CF7-E9FA-BEE39190C50C}"/>
              </a:ext>
            </a:extLst>
          </p:cNvPr>
          <p:cNvSpPr txBox="1"/>
          <p:nvPr/>
        </p:nvSpPr>
        <p:spPr>
          <a:xfrm>
            <a:off x="506896" y="3233771"/>
            <a:ext cx="33494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GOALS</a:t>
            </a:r>
            <a:endParaRPr lang="en-IN" sz="28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CFA8BB-82CE-DF8D-FCBA-3E975DFFAE8C}"/>
              </a:ext>
            </a:extLst>
          </p:cNvPr>
          <p:cNvSpPr txBox="1"/>
          <p:nvPr/>
        </p:nvSpPr>
        <p:spPr>
          <a:xfrm>
            <a:off x="672548" y="3896140"/>
            <a:ext cx="1075745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employee salaries relative to their performance ratings so that high performers are recognized with appropriate increases or rewards, and salary adjustments are justified by performance data.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SQL and Excel analytics to discover trends, patterns, and anomalies in compensation data (such as significant pay gaps or inconsistencies), enabling data-driven decisions.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112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04F61-DB8B-F11B-7DDA-742FC3351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781" y="365126"/>
            <a:ext cx="10872019" cy="608268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DESCRIPTIONS &amp; PREPROCESSING</a:t>
            </a:r>
            <a:endParaRPr lang="en-IN" sz="28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BBB65-6E87-CF3B-AB7F-159D4BB02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1885"/>
            <a:ext cx="10515600" cy="2143431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original dataset contains 27,546 rows &amp; 16 columns 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important metrics are Job Title ,Gender ,industry , annual salary ,currency ,country , additional monetary compensations.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Imported datasets into MS EXCEL for preprocessing &amp; analysis.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data consistency across uniform format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applied data validations.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540C76F-CBB2-C19D-3418-B2EE209E1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112" y="3529780"/>
            <a:ext cx="4981678" cy="2802194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4C4DDBD-9FB3-CC8E-648F-29F780824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4914" y="3529780"/>
            <a:ext cx="4998885" cy="28021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115F54A-59FC-F523-00FD-C9AD75C3655D}"/>
              </a:ext>
            </a:extLst>
          </p:cNvPr>
          <p:cNvSpPr txBox="1"/>
          <p:nvPr/>
        </p:nvSpPr>
        <p:spPr>
          <a:xfrm>
            <a:off x="1500809" y="6471772"/>
            <a:ext cx="403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        </a:t>
            </a:r>
            <a:r>
              <a:rPr lang="en-US" dirty="0">
                <a:solidFill>
                  <a:srgbClr val="FF0000"/>
                </a:solidFill>
              </a:rPr>
              <a:t>Original Dataset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C37313-0DEB-7A44-675A-9A09BA76CC0B}"/>
              </a:ext>
            </a:extLst>
          </p:cNvPr>
          <p:cNvSpPr txBox="1"/>
          <p:nvPr/>
        </p:nvSpPr>
        <p:spPr>
          <a:xfrm>
            <a:off x="6967330" y="6492874"/>
            <a:ext cx="4174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         </a:t>
            </a:r>
            <a:r>
              <a:rPr lang="en-US" dirty="0">
                <a:solidFill>
                  <a:srgbClr val="FF0000"/>
                </a:solidFill>
              </a:rPr>
              <a:t>Cleaned Dataset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6337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F6DD8-9B5D-AD47-7B14-FE6D859F4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Values</a:t>
            </a:r>
            <a:endParaRPr lang="en-IN" sz="28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2ADB802-592F-EF8A-B2A9-AA0800DEAC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3610" y="2141537"/>
            <a:ext cx="10310190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24128F-DD13-C9E1-68F3-1376A9E0C718}"/>
              </a:ext>
            </a:extLst>
          </p:cNvPr>
          <p:cNvSpPr txBox="1"/>
          <p:nvPr/>
        </p:nvSpPr>
        <p:spPr>
          <a:xfrm>
            <a:off x="1043611" y="1013791"/>
            <a:ext cx="111483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values means identifying and either removing or filling in gaps in the dataset so the data is complete and reliable for analysis.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2815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31E8C-32A7-0AB1-BC63-A1495103B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8484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METRICS CALCULATIONS &amp; DATA ANALYSIS</a:t>
            </a:r>
            <a:endParaRPr lang="en-IN" sz="2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9BB01-3006-6CE5-0636-347635D7E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2757"/>
            <a:ext cx="10515600" cy="4994206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 of annual salary=SUM(Fixed annual salary)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of annual salary=AVG(Fixed annual salary)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of annual salary=Count(Fixed annual salary)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annual salary=Maximum(Fixed annual salary)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0055182-76EA-859C-6C95-667730E2C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712" y="3786809"/>
            <a:ext cx="7146235" cy="176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987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46484-92AE-F7F6-3C90-5628D80B2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8423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PIVOT TABLES &amp; PIVOT CHARTS</a:t>
            </a:r>
            <a:endParaRPr lang="en-IN" sz="2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452DD-F275-6624-5DCB-C4E2A2BAD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3123"/>
            <a:ext cx="10515600" cy="844826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Pivot Table is used to summarize ,analyze , explore &amp; to present large amounts of data into an easy-to-understand &amp; interactive way.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0C538EE-A554-DA12-F9F8-870E47E08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662" y="2007706"/>
            <a:ext cx="8869582" cy="2196546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C574D4B-B1B8-6747-C455-03C24F0BB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294" y="4378188"/>
            <a:ext cx="8806318" cy="2298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559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F788A-A02D-18F7-1474-A3B20E683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8301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</a:t>
            </a:r>
            <a:endParaRPr lang="en-IN" sz="28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886F8C2-DB5A-35B3-043E-E87B5E0663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073426"/>
            <a:ext cx="10213257" cy="5642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759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3031B-06AE-78D5-37D4-D84832067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9579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QUERY</a:t>
            </a:r>
            <a:endParaRPr lang="en-IN" sz="28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914A7-F5B6-C7E0-DE04-EE9F0A949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4704"/>
            <a:ext cx="10515600" cy="5312259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queries are structured commands written in Structured Query Language to retrieve, filter, and manipulate employee compensation data from the  database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F9DE3DA-FFEF-FA69-EFB3-01CA2DE59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286" y="1974158"/>
            <a:ext cx="8229601" cy="4629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243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1DD1C-C127-2AD0-F1F7-7AC45A2F1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9092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Query</a:t>
            </a:r>
            <a:endParaRPr lang="en-IN" sz="2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96EE59F-EE3D-ECB8-62BD-990987F5D1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7104" y="2563810"/>
            <a:ext cx="10515600" cy="39290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F7C247-500B-A4F9-D236-F4147F4F03DB}"/>
              </a:ext>
            </a:extLst>
          </p:cNvPr>
          <p:cNvSpPr txBox="1"/>
          <p:nvPr/>
        </p:nvSpPr>
        <p:spPr>
          <a:xfrm>
            <a:off x="1017104" y="944218"/>
            <a:ext cx="102903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Query is a data-import and transformation tool in Excel that lets you connect to multiple data sources, clean and reshape data, and load it into worksheets for analysis.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8840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4D2CC-8AA0-F6CF-2C3B-BB34274B6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8849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RESEARCHED INSIGHTS</a:t>
            </a:r>
            <a:endParaRPr lang="en-IN" sz="28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D6B27-7868-351E-DE7A-CD701C5C05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349" y="1441173"/>
            <a:ext cx="11251094" cy="4735789"/>
          </a:xfrm>
        </p:spPr>
        <p:txBody>
          <a:bodyPr>
            <a:normAutofit/>
          </a:bodyPr>
          <a:lstStyle/>
          <a:p>
            <a:pPr algn="just"/>
            <a:r>
              <a:rPr lang="en-US" sz="2000" u="sng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United States ,Germany&amp; UK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the top paying countries contributing </a:t>
            </a:r>
            <a:r>
              <a:rPr lang="en-US" sz="20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10m $,1.5m$ &amp;1.7m$ resp.</a:t>
            </a:r>
          </a:p>
          <a:p>
            <a:pPr algn="just"/>
            <a:r>
              <a:rPr lang="en-US" sz="2000" u="sng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engineers &amp; Senior software </a:t>
            </a:r>
            <a:r>
              <a:rPr lang="en-US" sz="20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engineers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earns the </a:t>
            </a:r>
            <a:r>
              <a:rPr lang="en-US" sz="20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highest salary &amp; highest add. Compensation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Employees having non-IT job title earns less salary although having higher experience in resp . field.</a:t>
            </a:r>
          </a:p>
          <a:p>
            <a:pPr algn="just"/>
            <a:r>
              <a:rPr lang="en-US" sz="2000" u="sng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Women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earns more than the men in respective domains.</a:t>
            </a:r>
          </a:p>
          <a:p>
            <a:pPr algn="just"/>
            <a:r>
              <a:rPr lang="en-US" sz="2000" u="sng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Engineering , manufacturing &amp;computer techs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highest average salary I . E </a:t>
            </a:r>
            <a:r>
              <a:rPr lang="en-US" sz="20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6.7k$ &amp;4.6k$.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Employees having highest academic degrees(PhD , MD , Masters degree) has lower avg. salary as their no. is comparatively low than employees having basic academic degrees.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salary of men is lower than women but when it comes to bonus &amp; add. Compensation men earns more than women.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Employees having </a:t>
            </a:r>
            <a:r>
              <a:rPr lang="en-US" sz="2000" u="sng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Associate &amp; manager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title earns less bonus.</a:t>
            </a:r>
          </a:p>
          <a:p>
            <a:pPr algn="just"/>
            <a:r>
              <a:rPr lang="en-US" sz="2000" u="sng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Europe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employees earns less add. Compensation &amp; salary than other regions.</a:t>
            </a:r>
          </a:p>
          <a:p>
            <a:pPr algn="just"/>
            <a:r>
              <a:rPr lang="en-US" sz="20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Marketing , advertising &amp; PR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earns least salary &amp; bonus  I . e  </a:t>
            </a:r>
            <a:r>
              <a:rPr lang="en-US" sz="20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2.8k $.</a:t>
            </a:r>
          </a:p>
          <a:p>
            <a:pPr algn="just"/>
            <a:endParaRPr lang="en-US" sz="20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592000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78D80-DBCF-5FCE-4E41-2F7B124FF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8666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</a:t>
            </a:r>
            <a:endParaRPr lang="en-IN" sz="28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0757E-4204-B10E-17AB-4622A208C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896" y="1013792"/>
            <a:ext cx="11290852" cy="5163171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Employees having </a:t>
            </a:r>
            <a:r>
              <a:rPr lang="en-US" sz="20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 &amp; senior Software engineer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title should apply for </a:t>
            </a:r>
            <a:r>
              <a:rPr lang="en-US" sz="20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USA &amp; UK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they’re paying more salaries comparable to others.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</a:t>
            </a:r>
            <a:r>
              <a:rPr lang="en-US" sz="20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Compare salary &amp; compensation across countries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(US , Germany ,UK , Europe etc.) then  apply for the respective countries.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It’s shown that </a:t>
            </a:r>
            <a:r>
              <a:rPr lang="en-US" sz="20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experience pays fairness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add. Compensation &amp; bonus increased with employees having resp. job titles.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Employees having </a:t>
            </a:r>
            <a:r>
              <a:rPr lang="en-US" sz="20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men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gender work </a:t>
            </a:r>
            <a:r>
              <a:rPr lang="en-US" sz="20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extra shift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can get better bonus &amp; compensation than other genders.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Salary analysis shows that </a:t>
            </a:r>
            <a:r>
              <a:rPr lang="en-US" sz="20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IT peoples earns more than Non-IT peoples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, it’s advice for peoples having Non-Tech domain job title  to upskill for an IT roles as it pays more.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Employees having </a:t>
            </a:r>
            <a:r>
              <a:rPr lang="en-US" sz="20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highest salary &amp; compensations belongs from highest academic degree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backgrounds(PhD, MD, Masters )so, it’s highly urged employees having </a:t>
            </a:r>
            <a:r>
              <a:rPr lang="en-US" sz="20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basic academic degrees to upskill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0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Australia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pays more than some of the Europe countries so, it’s a suggestion for </a:t>
            </a:r>
            <a:r>
              <a:rPr lang="en-US" sz="20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employees having Asian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0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Indo-pacific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regions to target Australia for jobs.</a:t>
            </a:r>
          </a:p>
          <a:p>
            <a:pPr algn="just"/>
            <a:r>
              <a:rPr lang="en-US" sz="20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Role &amp; education impact on Salary benchmarking.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335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752</Words>
  <Application>Microsoft Office PowerPoint</Application>
  <PresentationFormat>Widescreen</PresentationFormat>
  <Paragraphs>54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         ANNUAL SALARY REVIEW MILESTONE PROJECT</vt:lpstr>
      <vt:lpstr>PROJECT OVERVIEW</vt:lpstr>
      <vt:lpstr>DATA DESCRIPTIONS &amp; PREPROCESSING</vt:lpstr>
      <vt:lpstr>Handling Missing Values</vt:lpstr>
      <vt:lpstr>KEY METRICS CALCULATIONS &amp; DATA ANALYSIS</vt:lpstr>
      <vt:lpstr>PIVOT TABLES &amp; PIVOT CHARTS</vt:lpstr>
      <vt:lpstr>DASHBOARD OVERVIEW</vt:lpstr>
      <vt:lpstr>SQL QUERY</vt:lpstr>
      <vt:lpstr>Power Query</vt:lpstr>
      <vt:lpstr>RESEARCHED INSIGHTS</vt:lpstr>
      <vt:lpstr>RECOMMENDATION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Prinesh Rout</dc:creator>
  <cp:lastModifiedBy>Prinesh Rout</cp:lastModifiedBy>
  <cp:revision>11</cp:revision>
  <dcterms:created xsi:type="dcterms:W3CDTF">2025-12-30T02:30:40Z</dcterms:created>
  <dcterms:modified xsi:type="dcterms:W3CDTF">2025-12-31T10:14:08Z</dcterms:modified>
</cp:coreProperties>
</file>